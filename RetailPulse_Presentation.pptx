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333333"/>
                </a:solidFill>
                <a:latin typeface="Calibri"/>
              </a:rPr>
              <a:t>Average Discount % by Region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Discount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7.9</c:v>
                </c:pt>
                <c:pt idx="2">
                  <c:v>21.5</c:v>
                </c:pt>
                <c:pt idx="3">
                  <c:v>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F5-4EA8-8C85-5F583E1281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lang="nl-NL" sz="1250" b="1" i="0" u="none" strike="noStrike">
                <a:solidFill>
                  <a:srgbClr val="1E2761"/>
                </a:solidFill>
                <a:latin typeface="Calibri"/>
              </a:rPr>
              <a:t>FINDING #3 — Net Margin % Trend (2024–2025)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Net Margin %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Jan-24</c:v>
                </c:pt>
                <c:pt idx="1">
                  <c:v>Apr-24</c:v>
                </c:pt>
                <c:pt idx="2">
                  <c:v>Jul-24</c:v>
                </c:pt>
                <c:pt idx="3">
                  <c:v>Oct-24</c:v>
                </c:pt>
                <c:pt idx="4">
                  <c:v>Jan-25</c:v>
                </c:pt>
                <c:pt idx="5">
                  <c:v>Apr-25</c:v>
                </c:pt>
                <c:pt idx="6">
                  <c:v>Jul-25</c:v>
                </c:pt>
                <c:pt idx="7">
                  <c:v>Oct-25</c:v>
                </c:pt>
                <c:pt idx="8">
                  <c:v>Dec-25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40.6</c:v>
                </c:pt>
                <c:pt idx="1">
                  <c:v>40.9</c:v>
                </c:pt>
                <c:pt idx="2">
                  <c:v>42.7</c:v>
                </c:pt>
                <c:pt idx="3">
                  <c:v>39.1</c:v>
                </c:pt>
                <c:pt idx="4">
                  <c:v>39.1</c:v>
                </c:pt>
                <c:pt idx="5">
                  <c:v>38.1</c:v>
                </c:pt>
                <c:pt idx="6">
                  <c:v>37.700000000000003</c:v>
                </c:pt>
                <c:pt idx="7">
                  <c:v>38</c:v>
                </c:pt>
                <c:pt idx="8">
                  <c:v>39.299999999999997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86-4159-A7C4-B9BC16973E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333333"/>
                </a:solidFill>
                <a:latin typeface="Calibri"/>
              </a:rPr>
              <a:t>Q1 2026 Revenue Forecast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Jun-25</c:v>
                </c:pt>
                <c:pt idx="1">
                  <c:v>Jul-25</c:v>
                </c:pt>
                <c:pt idx="2">
                  <c:v>Aug-25</c:v>
                </c:pt>
                <c:pt idx="3">
                  <c:v>Sep-25</c:v>
                </c:pt>
                <c:pt idx="4">
                  <c:v>Oct-25</c:v>
                </c:pt>
                <c:pt idx="5">
                  <c:v>Nov-25</c:v>
                </c:pt>
                <c:pt idx="6">
                  <c:v>Dec-25</c:v>
                </c:pt>
                <c:pt idx="7">
                  <c:v>Jan-26</c:v>
                </c:pt>
                <c:pt idx="8">
                  <c:v>Feb-26</c:v>
                </c:pt>
                <c:pt idx="9">
                  <c:v>Mar-26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93432</c:v>
                </c:pt>
                <c:pt idx="1">
                  <c:v>99013</c:v>
                </c:pt>
                <c:pt idx="2">
                  <c:v>93955</c:v>
                </c:pt>
                <c:pt idx="3">
                  <c:v>114466</c:v>
                </c:pt>
                <c:pt idx="4">
                  <c:v>93169</c:v>
                </c:pt>
                <c:pt idx="5">
                  <c:v>108899</c:v>
                </c:pt>
                <c:pt idx="6">
                  <c:v>72221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5B-4CA6-8A12-8F25A1B3F4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Forecast</c:v>
                </c:pt>
              </c:strCache>
            </c:strRef>
          </c:tx>
          <c:spPr>
            <a:ln w="31750" cap="flat">
              <a:solidFill>
                <a:srgbClr val="9AA0B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AA0B0"/>
              </a:solidFill>
              <a:ln w="9525" cap="flat">
                <a:solidFill>
                  <a:srgbClr val="9AA0B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Jun-25</c:v>
                </c:pt>
                <c:pt idx="1">
                  <c:v>Jul-25</c:v>
                </c:pt>
                <c:pt idx="2">
                  <c:v>Aug-25</c:v>
                </c:pt>
                <c:pt idx="3">
                  <c:v>Sep-25</c:v>
                </c:pt>
                <c:pt idx="4">
                  <c:v>Oct-25</c:v>
                </c:pt>
                <c:pt idx="5">
                  <c:v>Nov-25</c:v>
                </c:pt>
                <c:pt idx="6">
                  <c:v>Dec-25</c:v>
                </c:pt>
                <c:pt idx="7">
                  <c:v>Jan-26</c:v>
                </c:pt>
                <c:pt idx="8">
                  <c:v>Feb-26</c:v>
                </c:pt>
                <c:pt idx="9">
                  <c:v>Mar-26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6">
                  <c:v>72221</c:v>
                </c:pt>
                <c:pt idx="7">
                  <c:v>120983</c:v>
                </c:pt>
                <c:pt idx="8">
                  <c:v>125197</c:v>
                </c:pt>
                <c:pt idx="9">
                  <c:v>129412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5B-4CA6-8A12-8F25A1B3F4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Seasonally-Adjusted</c:v>
                </c:pt>
              </c:strCache>
            </c:strRef>
          </c:tx>
          <c:spPr>
            <a:ln w="31750" cap="flat">
              <a:solidFill>
                <a:srgbClr val="1E7B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7B4D"/>
              </a:solidFill>
              <a:ln w="9525" cap="flat">
                <a:solidFill>
                  <a:srgbClr val="1E7B4D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Jun-25</c:v>
                </c:pt>
                <c:pt idx="1">
                  <c:v>Jul-25</c:v>
                </c:pt>
                <c:pt idx="2">
                  <c:v>Aug-25</c:v>
                </c:pt>
                <c:pt idx="3">
                  <c:v>Sep-25</c:v>
                </c:pt>
                <c:pt idx="4">
                  <c:v>Oct-25</c:v>
                </c:pt>
                <c:pt idx="5">
                  <c:v>Nov-25</c:v>
                </c:pt>
                <c:pt idx="6">
                  <c:v>Dec-25</c:v>
                </c:pt>
                <c:pt idx="7">
                  <c:v>Jan-26</c:v>
                </c:pt>
                <c:pt idx="8">
                  <c:v>Feb-26</c:v>
                </c:pt>
                <c:pt idx="9">
                  <c:v>Mar-26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6">
                  <c:v>72221</c:v>
                </c:pt>
                <c:pt idx="7">
                  <c:v>76728</c:v>
                </c:pt>
                <c:pt idx="8">
                  <c:v>70783</c:v>
                </c:pt>
                <c:pt idx="9">
                  <c:v>75090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5B-4CA6-8A12-8F25A1B3F4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602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RETAILPULSE INC.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Profitability &amp; Demand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margin fell despite stable revenue — and what to do about 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1280160" cy="274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VP of Merchandising    |    Data Analyst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margin declined despite stable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309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last 8 quarters, RetailPulse's net profit margin dropped from 8.2% to 6.5% — a trend leadership could not explain from top-line numbers alone. This analysis investigates 6,500 cleaned transaction records (FY2024–2025) to find the root cause.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Tested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increased in certain regions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2452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has thin margins and growing share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60857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concentrated in one region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99262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rose in one region without price adjustment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46304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DECLINE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35240" y="2011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AA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63524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quarters ago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35240" y="3017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6352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4069080"/>
            <a:ext cx="3703320" cy="0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635240" y="4206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over the same period: stable to growing.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export to reliable answers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6,598 raw rows standardized: text casing, 4 mixed date formats, duplicates, missing values — each handled with a documented, defensible rule.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11880" y="1965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11880" y="2514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Metrics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1880" y="30632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Revenue, Gross Profit, and Net Margin % per transaction; defined 7 core KPIs tied to the business question.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46520" y="1965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Visualize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0632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 and interactive charts segmented performance by Region, Category, and Month to isolate the true driver.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281160" y="1965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81160" y="2514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Recommend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81160" y="30632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Q1 2026 revenue two ways, compared methodologies, and translated findings into three targeted actions.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region discounts nearly 3x the company average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463040"/>
            <a:ext cx="470916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132320" y="1600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052560" y="1691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loss-making transactions come from South + Electronics alone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03720" y="3246120"/>
            <a:ext cx="470916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132320" y="3429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052560" y="347472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6,500 transactions were sold at a loss — small in volume, concentrated in impact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903720" y="52120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South's discounting is region-wide, not category-specific — Electronics is simply hit hardest because it already runs the thinnest margin.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#2 &amp; #3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quality risk, and a worsening trend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#2 — DATA QUALITY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(0.5%) had Cost &gt; Price — an impossible pricing scenario producing margins as extreme as -428%.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as data entry errors, not loss-leader pricing, and corrected using average cost benchmarks from valid transactions.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217920" y="1463040"/>
          <a:ext cx="53949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method matters: linear vs. seasonally-adjusted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001000" y="1645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001000" y="242316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overstatement from a naive linear model, distorted by one low December data point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0" y="37947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seasonally-adjusted forecast — anchored to actual recent performance — is the more defensible projection for inventory and staffing planning.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targeted actions for the VP of Merchandising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South Region Discounting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12–15% discount ceiling for Electronics in South, requiring approval above that threshold.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92240" y="14630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720840" y="1581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20840" y="1874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shift 111 loss-making South transactions toward positive margin.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 Data Validation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5204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 any transaction where Unit Cost exceeds Unit Price before it reaches financial reporting.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30632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20840" y="3182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34747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future margin miscalculation in monthly reporting.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why South discounts ~3x more than other regions before applying a blunt policy fix.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46634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20840" y="4782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5074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 targeted fix instead of a policy that risks hurting legitimate sales.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targeted business decision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6,500 transactions cleaned and validated  →  4 evidence-based findings  →  3 actionable recommendations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3657600" cy="0"/>
          </a:xfrm>
          <a:prstGeom prst="line">
            <a:avLst/>
          </a:prstGeom>
          <a:noFill/>
          <a:ln w="12700">
            <a:solidFill>
              <a:srgbClr val="3E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pilot the South-region discount cap for one quarter, measure margin recovery against the loss-making transaction rate.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612</Words>
  <Application>Microsoft Office PowerPoint</Application>
  <PresentationFormat>Widescreen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ViChuuu! 🕸️</cp:lastModifiedBy>
  <cp:revision>1</cp:revision>
  <dcterms:created xsi:type="dcterms:W3CDTF">2026-08-17T23:12:36Z</dcterms:created>
  <dcterms:modified xsi:type="dcterms:W3CDTF">2026-08-17T23:32:20Z</dcterms:modified>
</cp:coreProperties>
</file>